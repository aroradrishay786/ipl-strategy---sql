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62" d="100"/>
          <a:sy n="62" d="100"/>
        </p:scale>
        <p:origin x="828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562DD06-214B-47A5-A2F6-62F6907E30E9}" type="datetimeFigureOut">
              <a:rPr lang="en-IN" smtClean="0"/>
              <a:t>08-05-2026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BA2DA16-2ED0-43B6-ACCD-CAA48FC11F8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526509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A2DA16-2ED0-43B6-ACCD-CAA48FC11F80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9395195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A714E3-A98E-2079-FB74-6D7A401F29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96D3C8B-4EA6-94D6-CA12-EAA67C17812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94AC000-3732-14DE-02A9-C8E1FCACFA3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BFB0FD-24AA-3FD4-EFBB-C3E5C19AA07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A2DA16-2ED0-43B6-ACCD-CAA48FC11F80}" type="slidenum">
              <a:rPr lang="en-IN" smtClean="0"/>
              <a:t>16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4818075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3EB67F-5D90-476D-985D-4AC9E079ED95}" type="datetimeFigureOut">
              <a:rPr lang="en-IN" smtClean="0"/>
              <a:t>08-05-2026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1F088507-29F0-4A97-87D5-F0EF9C62EF1E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747272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3EB67F-5D90-476D-985D-4AC9E079ED95}" type="datetimeFigureOut">
              <a:rPr lang="en-IN" smtClean="0"/>
              <a:t>08-05-2026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088507-29F0-4A97-87D5-F0EF9C62EF1E}" type="slidenum">
              <a:rPr lang="en-IN" smtClean="0"/>
              <a:t>‹#›</a:t>
            </a:fld>
            <a:endParaRPr lang="en-IN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529418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3EB67F-5D90-476D-985D-4AC9E079ED95}" type="datetimeFigureOut">
              <a:rPr lang="en-IN" smtClean="0"/>
              <a:t>08-05-2026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088507-29F0-4A97-87D5-F0EF9C62EF1E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000341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3EB67F-5D90-476D-985D-4AC9E079ED95}" type="datetimeFigureOut">
              <a:rPr lang="en-IN" smtClean="0"/>
              <a:t>08-05-2026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088507-29F0-4A97-87D5-F0EF9C62EF1E}" type="slidenum">
              <a:rPr lang="en-IN" smtClean="0"/>
              <a:t>‹#›</a:t>
            </a:fld>
            <a:endParaRPr lang="en-IN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401642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3EB67F-5D90-476D-985D-4AC9E079ED95}" type="datetimeFigureOut">
              <a:rPr lang="en-IN" smtClean="0"/>
              <a:t>08-05-2026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088507-29F0-4A97-87D5-F0EF9C62EF1E}" type="slidenum">
              <a:rPr lang="en-IN" smtClean="0"/>
              <a:t>‹#›</a:t>
            </a:fld>
            <a:endParaRPr lang="en-IN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714444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3EB67F-5D90-476D-985D-4AC9E079ED95}" type="datetimeFigureOut">
              <a:rPr lang="en-IN" smtClean="0"/>
              <a:t>08-05-2026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088507-29F0-4A97-87D5-F0EF9C62EF1E}" type="slidenum">
              <a:rPr lang="en-IN" smtClean="0"/>
              <a:t>‹#›</a:t>
            </a:fld>
            <a:endParaRPr lang="en-IN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045574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3EB67F-5D90-476D-985D-4AC9E079ED95}" type="datetimeFigureOut">
              <a:rPr lang="en-IN" smtClean="0"/>
              <a:t>08-05-2026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088507-29F0-4A97-87D5-F0EF9C62EF1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21245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3EB67F-5D90-476D-985D-4AC9E079ED95}" type="datetimeFigureOut">
              <a:rPr lang="en-IN" smtClean="0"/>
              <a:t>08-05-2026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088507-29F0-4A97-87D5-F0EF9C62EF1E}" type="slidenum">
              <a:rPr lang="en-IN" smtClean="0"/>
              <a:t>‹#›</a:t>
            </a:fld>
            <a:endParaRPr lang="en-IN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708341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8F3EB67F-5D90-476D-985D-4AC9E079ED95}" type="datetimeFigureOut">
              <a:rPr lang="en-IN" smtClean="0"/>
              <a:t>08-05-2026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088507-29F0-4A97-87D5-F0EF9C62EF1E}" type="slidenum">
              <a:rPr lang="en-IN" smtClean="0"/>
              <a:t>‹#›</a:t>
            </a:fld>
            <a:endParaRPr lang="en-IN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407653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3EB67F-5D90-476D-985D-4AC9E079ED95}" type="datetimeFigureOut">
              <a:rPr lang="en-IN" smtClean="0"/>
              <a:t>08-05-2026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088507-29F0-4A97-87D5-F0EF9C62EF1E}" type="slidenum">
              <a:rPr lang="en-IN" smtClean="0"/>
              <a:t>‹#›</a:t>
            </a:fld>
            <a:endParaRPr lang="en-IN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93549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3EB67F-5D90-476D-985D-4AC9E079ED95}" type="datetimeFigureOut">
              <a:rPr lang="en-IN" smtClean="0"/>
              <a:t>08-05-2026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088507-29F0-4A97-87D5-F0EF9C62EF1E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258187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F3EB67F-5D90-476D-985D-4AC9E079ED95}" type="datetimeFigureOut">
              <a:rPr lang="en-IN" smtClean="0"/>
              <a:t>08-05-2026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1F088507-29F0-4A97-87D5-F0EF9C62EF1E}" type="slidenum">
              <a:rPr lang="en-IN" smtClean="0"/>
              <a:t>‹#›</a:t>
            </a:fld>
            <a:endParaRPr lang="en-IN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921677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D78E6C-F68A-B8BC-4BD6-91F020C94BA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IPL DATA Analysis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F57E49F-5D77-D870-89DF-768A781AF06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“Building a winning strategy for rcb”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25F773A-F912-1A94-6F54-E936A50C5931}"/>
              </a:ext>
            </a:extLst>
          </p:cNvPr>
          <p:cNvSpPr txBox="1"/>
          <p:nvPr/>
        </p:nvSpPr>
        <p:spPr>
          <a:xfrm>
            <a:off x="4332982" y="5655592"/>
            <a:ext cx="45644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PRESENTED BY – DRISHAY ARORA</a:t>
            </a:r>
          </a:p>
        </p:txBody>
      </p:sp>
    </p:spTree>
    <p:extLst>
      <p:ext uri="{BB962C8B-B14F-4D97-AF65-F5344CB8AC3E}">
        <p14:creationId xmlns:p14="http://schemas.microsoft.com/office/powerpoint/2010/main" val="5551506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0677A7-6E04-FD4A-FB38-596DFBFCE0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20059C-5123-D5F4-C767-5042FF8CAA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ü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Description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Setting the Context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On-Field Patterns &amp; Tactical Insights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Team Dependency &amp; Squad Structure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Verdict &amp; The Way Forward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984052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E7DF80-77E3-0BC5-474C-81920A1EAD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sz="3600" b="1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Problem Statement</a:t>
            </a:r>
            <a:endParaRPr lang="en-IN" sz="3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533F4D-3C44-D764-2F5C-1FC7840473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ü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You are hired as a sport data analyst by RCB where the team is looking for top-performing and reliable players to win tournaments, considering both on-field performance and value for money in mega player auction of 2017. 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Your task is to come up with strategies/suggestions regarding selecting the best-performing players and optimizing player auction investments</a:t>
            </a:r>
          </a:p>
          <a:p>
            <a:pPr>
              <a:buFont typeface="Wingdings" panose="05000000000000000000" pitchFamily="2" charset="2"/>
              <a:buChar char="ü"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413800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B152F2-7408-85EB-FD27-A808DDAC19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600" b="1" dirty="0">
                <a:solidFill>
                  <a:srgbClr val="091C53"/>
                </a:solidFill>
                <a:latin typeface="Times New Roman" panose="02020603050405020304" charset="0"/>
                <a:ea typeface="Instrument Sans Semi Bold" pitchFamily="34" charset="-122"/>
                <a:cs typeface="Times New Roman" panose="02020603050405020304" charset="0"/>
                <a:sym typeface="+mn-ea"/>
              </a:rPr>
              <a:t>The Unanswered Question: </a:t>
            </a:r>
            <a:br>
              <a:rPr lang="en-US" sz="3600" b="1" dirty="0">
                <a:solidFill>
                  <a:srgbClr val="091C53"/>
                </a:solidFill>
                <a:latin typeface="Times New Roman" panose="02020603050405020304" charset="0"/>
                <a:ea typeface="Instrument Sans Semi Bold" pitchFamily="34" charset="-122"/>
                <a:cs typeface="Times New Roman" panose="02020603050405020304" charset="0"/>
                <a:sym typeface="+mn-ea"/>
              </a:rPr>
            </a:br>
            <a:r>
              <a:rPr lang="en-US" sz="3600" b="1" dirty="0">
                <a:solidFill>
                  <a:srgbClr val="091C53"/>
                </a:solidFill>
                <a:latin typeface="Times New Roman" panose="02020603050405020304" charset="0"/>
                <a:ea typeface="Instrument Sans Semi Bold" pitchFamily="34" charset="-122"/>
                <a:cs typeface="Times New Roman" panose="02020603050405020304" charset="0"/>
                <a:sym typeface="+mn-ea"/>
              </a:rPr>
              <a:t>Why No Trophy?</a:t>
            </a:r>
            <a:endParaRPr lang="en-IN" sz="3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A77B53-49F2-1428-20D5-7A0AD930DB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>
              <a:solidFill>
                <a:srgbClr val="1E3063"/>
              </a:solidFill>
              <a:latin typeface="Times New Roman" panose="02020603050405020304" charset="0"/>
              <a:ea typeface="Instrument Sans Medium" pitchFamily="34" charset="-122"/>
              <a:cs typeface="Times New Roman" panose="02020603050405020304" charset="0"/>
              <a:sym typeface="+mn-ea"/>
            </a:endParaRPr>
          </a:p>
          <a:p>
            <a:pPr>
              <a:buFont typeface="Wingdings" panose="05000000000000000000" pitchFamily="2" charset="2"/>
              <a:buChar char="ü"/>
            </a:pPr>
            <a:r>
              <a:rPr lang="en-US" dirty="0">
                <a:solidFill>
                  <a:srgbClr val="1E3063"/>
                </a:solidFill>
                <a:latin typeface="Times New Roman" panose="02020603050405020304" charset="0"/>
                <a:ea typeface="Instrument Sans Medium" pitchFamily="34" charset="-122"/>
                <a:cs typeface="Times New Roman" panose="02020603050405020304" charset="0"/>
                <a:sym typeface="+mn-ea"/>
              </a:rPr>
              <a:t>Despite boasting world-class talent across multiple seasons, the Royal Challengers Bangalore have yet to lift the IPL trophy. This analysis dives deep into performance patterns, identifies critical gaps, and proposes data-driven strategies for future success.</a:t>
            </a:r>
            <a:endParaRPr lang="en-US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919371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CB20EE-2FEC-C56F-C8EA-54E07F9E48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altLang="en-US" sz="3600" b="1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RCB Performance Overview (Season-wise)</a:t>
            </a:r>
            <a:endParaRPr lang="en-IN" sz="36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AE1E53-2F5D-F5B3-7D3A-D0E4CB064E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2015732"/>
            <a:ext cx="5504025" cy="3450613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ü"/>
            </a:pPr>
            <a:r>
              <a:rPr lang="en-US" altLang="en-US" sz="2400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RCB has shown high volatility in performance across seasons</a:t>
            </a:r>
            <a:endParaRPr lang="en-US" altLang="en-US" sz="2400" dirty="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buFont typeface="Wingdings" panose="05000000000000000000" pitchFamily="2" charset="2"/>
              <a:buChar char="ü"/>
            </a:pPr>
            <a:r>
              <a:rPr lang="en-US" altLang="en-US" sz="2400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Strong individual seasons did not translate into sustained success</a:t>
            </a:r>
            <a:endParaRPr lang="en-US" altLang="en-US" sz="2400" dirty="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buFont typeface="Wingdings" panose="05000000000000000000" pitchFamily="2" charset="2"/>
              <a:buChar char="ü"/>
            </a:pPr>
            <a:r>
              <a:rPr lang="en-US" altLang="en-US" sz="2400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Indicates inconsistency rather than lack of talent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FE4C9A8-C2E0-4007-89B1-0BE992E3BE53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6708825" y="2150045"/>
            <a:ext cx="5219065" cy="31819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18028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132261-79B8-BB25-CF27-4B5897972F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sz="3600" b="1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Home vs Away performance</a:t>
            </a:r>
            <a:endParaRPr lang="en-IN" sz="36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DA0EDB-4ABB-2661-6294-31FB68965F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2015732"/>
            <a:ext cx="4644421" cy="3450613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ü"/>
            </a:pPr>
            <a:r>
              <a:rPr lang="en-US" altLang="en-US" sz="2400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RCB performs significantly better at home than in away conditions.</a:t>
            </a:r>
            <a:endParaRPr lang="en-US" altLang="en-US" sz="2400" dirty="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buFont typeface="Wingdings" panose="05000000000000000000" pitchFamily="2" charset="2"/>
              <a:buChar char="ü"/>
            </a:pPr>
            <a:r>
              <a:rPr lang="en-US" altLang="en-US" sz="2400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Away matches expose adaptability issues to pitch and venue variations.</a:t>
            </a:r>
            <a:endParaRPr lang="en-US" altLang="en-US" sz="2400" dirty="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buFont typeface="Wingdings" panose="05000000000000000000" pitchFamily="2" charset="2"/>
              <a:buChar char="ü"/>
            </a:pPr>
            <a:r>
              <a:rPr lang="en-US" altLang="en-US" sz="2400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Over-reliance on home advantage limits overall tournament success.</a:t>
            </a:r>
          </a:p>
          <a:p>
            <a:pPr>
              <a:buFont typeface="Wingdings" panose="05000000000000000000" pitchFamily="2" charset="2"/>
              <a:buChar char="ü"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4" descr="IMG_256">
            <a:extLst>
              <a:ext uri="{FF2B5EF4-FFF2-40B4-BE49-F238E27FC236}">
                <a16:creationId xmlns:a16="http://schemas.microsoft.com/office/drawing/2014/main" id="{2D12B512-DFF8-A2A0-3E63-D9924F4246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2768" y="2072905"/>
            <a:ext cx="5187950" cy="3393440"/>
          </a:xfrm>
          <a:prstGeom prst="rect">
            <a:avLst/>
          </a:prstGeom>
          <a:noFill/>
          <a:ln w="9525">
            <a:noFill/>
          </a:ln>
        </p:spPr>
      </p:pic>
    </p:spTree>
    <p:extLst>
      <p:ext uri="{BB962C8B-B14F-4D97-AF65-F5344CB8AC3E}">
        <p14:creationId xmlns:p14="http://schemas.microsoft.com/office/powerpoint/2010/main" val="32524924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FEC082-8682-F55C-5385-221B4F28AA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sz="3600" b="1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Toss Decisions &amp; Venue Impact</a:t>
            </a:r>
            <a:endParaRPr lang="en-IN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39A3B5-E03E-B512-805E-A9BA5F6E67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2015732"/>
            <a:ext cx="4938947" cy="3450613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ü"/>
            </a:pPr>
            <a:r>
              <a:rPr lang="en-US" altLang="en-US" sz="2400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Toss decisions worked only at select venues, not universally.</a:t>
            </a:r>
            <a:endParaRPr lang="en-US" altLang="en-US" sz="2400" dirty="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buFont typeface="Wingdings" panose="05000000000000000000" pitchFamily="2" charset="2"/>
              <a:buChar char="ü"/>
            </a:pPr>
            <a:r>
              <a:rPr lang="en-US" altLang="en-US" sz="2400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Same decisions led to opposite outcomes across venues, showing rigid strategy.</a:t>
            </a:r>
            <a:endParaRPr lang="en-US" altLang="en-US" sz="2400" dirty="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buFont typeface="Wingdings" panose="05000000000000000000" pitchFamily="2" charset="2"/>
              <a:buChar char="ü"/>
            </a:pPr>
            <a:r>
              <a:rPr lang="en-US" altLang="en-US" sz="2400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Suggests poor alignment between toss choice and pitch behavior.</a:t>
            </a:r>
          </a:p>
          <a:p>
            <a:pPr>
              <a:buFont typeface="Wingdings" panose="05000000000000000000" pitchFamily="2" charset="2"/>
              <a:buChar char="ü"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2FA81C5-D425-7535-E0DB-FA28E2DBDAAD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6390526" y="2159888"/>
            <a:ext cx="5374005" cy="3162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95968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EB309C-037B-F243-07C0-09CF26C7A5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sz="3600" b="1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Player Presence &amp; Morale Impact</a:t>
            </a:r>
            <a:endParaRPr lang="en-IN" sz="36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79A23C-5555-72A2-ED02-BF3371AFEB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80" y="2015732"/>
            <a:ext cx="4990318" cy="3450613"/>
          </a:xfrm>
        </p:spPr>
        <p:txBody>
          <a:bodyPr>
            <a:normAutofit/>
          </a:bodyPr>
          <a:lstStyle/>
          <a:p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Certain players show a sharp increase in team win percentage when present.</a:t>
            </a: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Team performance drops noticeably in their absence.</a:t>
            </a: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Highlights over-dependence on a few individuals rather than a strong unit.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6F8EBA3-80E5-BF71-88E0-3FFF1B9FAA2F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6441898" y="2192973"/>
            <a:ext cx="5469890" cy="3435350"/>
          </a:xfrm>
          <a:prstGeom prst="rect">
            <a:avLst/>
          </a:prstGeom>
          <a:solidFill>
            <a:schemeClr val="tx1">
              <a:alpha val="30000"/>
            </a:schemeClr>
          </a:solidFill>
        </p:spPr>
      </p:pic>
    </p:spTree>
    <p:extLst>
      <p:ext uri="{BB962C8B-B14F-4D97-AF65-F5344CB8AC3E}">
        <p14:creationId xmlns:p14="http://schemas.microsoft.com/office/powerpoint/2010/main" val="16344646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0A42F2-0324-10E0-5E2F-196AFF6217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 sz="3600" b="1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Squad Balance – Batting vs Bowling</a:t>
            </a:r>
            <a:endParaRPr lang="en-IN" sz="36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DD48BC-182C-8CD6-71FA-6B1541F351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2015732"/>
            <a:ext cx="4825931" cy="3450613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ü"/>
            </a:pPr>
            <a:r>
              <a:rPr lang="en-US" altLang="en-US" sz="2400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Batting performances often outshine bowling contributions.</a:t>
            </a:r>
            <a:endParaRPr lang="en-US" altLang="en-US" sz="2400" dirty="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buFont typeface="Wingdings" panose="05000000000000000000" pitchFamily="2" charset="2"/>
              <a:buChar char="ü"/>
            </a:pPr>
            <a:r>
              <a:rPr lang="en-US" altLang="en-US" sz="2400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Bowling unit lacks consistent wicket-taking across seasons.</a:t>
            </a:r>
            <a:endParaRPr lang="en-US" altLang="en-US" sz="2400" dirty="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buFont typeface="Wingdings" panose="05000000000000000000" pitchFamily="2" charset="2"/>
              <a:buChar char="ü"/>
            </a:pPr>
            <a:r>
              <a:rPr lang="en-US" altLang="en-US" sz="2400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Imbalance leads to inability to defend totals or control chases.</a:t>
            </a:r>
          </a:p>
        </p:txBody>
      </p:sp>
      <p:pic>
        <p:nvPicPr>
          <p:cNvPr id="4" name="Picture 31" descr="IMG_256">
            <a:extLst>
              <a:ext uri="{FF2B5EF4-FFF2-40B4-BE49-F238E27FC236}">
                <a16:creationId xmlns:a16="http://schemas.microsoft.com/office/drawing/2014/main" id="{93F7B938-6741-85B1-7685-95BF40C40F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21340" y="2015732"/>
            <a:ext cx="5349411" cy="3119691"/>
          </a:xfrm>
          <a:prstGeom prst="rect">
            <a:avLst/>
          </a:prstGeom>
          <a:noFill/>
          <a:ln w="9525">
            <a:noFill/>
          </a:ln>
        </p:spPr>
      </p:pic>
    </p:spTree>
    <p:extLst>
      <p:ext uri="{BB962C8B-B14F-4D97-AF65-F5344CB8AC3E}">
        <p14:creationId xmlns:p14="http://schemas.microsoft.com/office/powerpoint/2010/main" val="112462224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35C129-2BD2-F7C4-3CA8-C0299C6DA1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sz="3600" b="1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Role of All-Rounders</a:t>
            </a:r>
            <a:endParaRPr lang="en-IN" sz="36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7A7847-2AD0-1979-B99A-C52632E1CD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2015732"/>
            <a:ext cx="4918399" cy="3450613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ü"/>
            </a:pPr>
            <a:r>
              <a:rPr lang="en-US" altLang="en-US" sz="2400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Successful teams show stronger contribution from multi-skill players.</a:t>
            </a:r>
            <a:endParaRPr lang="en-US" altLang="en-US" sz="2400" dirty="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buFont typeface="Wingdings" panose="05000000000000000000" pitchFamily="2" charset="2"/>
              <a:buChar char="ü"/>
            </a:pPr>
            <a:r>
              <a:rPr lang="en-US" altLang="en-US" sz="2400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RCB’s all-rounder impact has been limited and inconsistent.</a:t>
            </a:r>
            <a:endParaRPr lang="en-US" altLang="en-US" sz="2400" dirty="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buFont typeface="Wingdings" panose="05000000000000000000" pitchFamily="2" charset="2"/>
              <a:buChar char="ü"/>
            </a:pPr>
            <a:r>
              <a:rPr lang="en-US" altLang="en-US" sz="2400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Lack of depth puts pressure on top-order batters and strike bowlers.</a:t>
            </a:r>
          </a:p>
        </p:txBody>
      </p:sp>
      <p:pic>
        <p:nvPicPr>
          <p:cNvPr id="4" name="Picture 30" descr="IMG_256">
            <a:extLst>
              <a:ext uri="{FF2B5EF4-FFF2-40B4-BE49-F238E27FC236}">
                <a16:creationId xmlns:a16="http://schemas.microsoft.com/office/drawing/2014/main" id="{0EB8B155-708E-F445-7876-398D953097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69978" y="2065920"/>
            <a:ext cx="5219065" cy="3400425"/>
          </a:xfrm>
          <a:prstGeom prst="rect">
            <a:avLst/>
          </a:prstGeom>
          <a:noFill/>
          <a:ln w="9525">
            <a:noFill/>
          </a:ln>
        </p:spPr>
      </p:pic>
    </p:spTree>
    <p:extLst>
      <p:ext uri="{BB962C8B-B14F-4D97-AF65-F5344CB8AC3E}">
        <p14:creationId xmlns:p14="http://schemas.microsoft.com/office/powerpoint/2010/main" val="90651371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0B7153-6EE1-19A4-759D-43B0F7262D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sz="3600" b="1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Stars vs Team Performance</a:t>
            </a:r>
            <a:endParaRPr lang="en-IN" sz="36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05019E-5932-AD03-4A9F-7C55D4AE43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80" y="2015732"/>
            <a:ext cx="5000592" cy="3450613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ü"/>
            </a:pPr>
            <a:r>
              <a:rPr lang="en-US" altLang="en-US" sz="2400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Presence of star players boosts individual match outcomes.</a:t>
            </a:r>
            <a:endParaRPr lang="en-US" altLang="en-US" sz="2400" dirty="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buFont typeface="Wingdings" panose="05000000000000000000" pitchFamily="2" charset="2"/>
              <a:buChar char="ü"/>
            </a:pPr>
            <a:r>
              <a:rPr lang="en-US" altLang="en-US" sz="2400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However, stars alone could not ensure playoff consistency or finals dominance.</a:t>
            </a:r>
            <a:endParaRPr lang="en-US" altLang="en-US" sz="2400" dirty="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buFont typeface="Wingdings" panose="05000000000000000000" pitchFamily="2" charset="2"/>
              <a:buChar char="ü"/>
            </a:pPr>
            <a:r>
              <a:rPr lang="en-US" altLang="en-US" sz="2400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Trophies require collective performance, not isolated brilliance.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1C164EA-C75F-CB01-4F3C-BFA402B0A645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6253216" y="2046288"/>
            <a:ext cx="5443855" cy="35820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988011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D1CB26-EDBD-756A-200A-33BB10459C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altLang="en-US" sz="3600" b="1" dirty="0">
                <a:solidFill>
                  <a:srgbClr val="091C53"/>
                </a:solidFill>
                <a:latin typeface="Times New Roman" panose="02020603050405020304" charset="0"/>
                <a:ea typeface="Instrument Sans Semi Bold" pitchFamily="34" charset="-122"/>
                <a:cs typeface="Times New Roman" panose="02020603050405020304" charset="0"/>
                <a:sym typeface="+mn-ea"/>
              </a:rPr>
              <a:t>Why NO Trophy:</a:t>
            </a:r>
            <a:endParaRPr lang="en-IN" sz="36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3D4AD1-23EC-58FC-2C93-C7777A6F6A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25000" lnSpcReduction="20000"/>
          </a:bodyPr>
          <a:lstStyle/>
          <a:p>
            <a:pPr>
              <a:buFont typeface="Wingdings" panose="05000000000000000000" pitchFamily="2" charset="2"/>
              <a:buChar char="ü"/>
            </a:pPr>
            <a:r>
              <a:rPr lang="en-US" sz="6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Season-wise inconsistency: </a:t>
            </a:r>
            <a:r>
              <a:rPr lang="en-US" sz="6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Strong individual seasons were followed by sharp performance drop-offs, preventing sustained title momentum.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6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Tactical rigidity: </a:t>
            </a:r>
            <a:r>
              <a:rPr lang="en-US" sz="6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Similar toss and match strategies were applied across different venues, ignoring pitch and condition variability.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6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Over-reliance on Star Players: </a:t>
            </a:r>
            <a:r>
              <a:rPr lang="en-US" sz="6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team's fate often hinged on a handful of top performers.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6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Inconsistent Bowling Unit: </a:t>
            </a:r>
            <a:r>
              <a:rPr lang="en-US" sz="6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lack of sustained quality and depth, particularly in death bowling.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6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Lack of All-Round Depth: </a:t>
            </a:r>
            <a:r>
              <a:rPr lang="en-US" sz="6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Insufficient genuine multi-faceted players to provide balance.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6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Away Conditions Adaptation: </a:t>
            </a:r>
            <a:r>
              <a:rPr lang="en-US" sz="6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Difficulty in performing consistently outside home ground advantage.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6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Squad Building Strategy: </a:t>
            </a:r>
            <a:r>
              <a:rPr lang="en-US" sz="6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Focus on individual stars over a balanced team composition.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1353370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0F2ECB-C1AE-B784-F70C-541ACBBB7D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91C53"/>
                </a:solidFill>
                <a:latin typeface="Times New Roman" panose="02020603050405020304" charset="0"/>
                <a:ea typeface="Instrument Sans Semi Bold" pitchFamily="34" charset="-122"/>
                <a:cs typeface="Times New Roman" panose="02020603050405020304" charset="0"/>
                <a:sym typeface="+mn-ea"/>
              </a:rPr>
              <a:t>Forging a New Path: Strategies for Success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91FCC0-11F9-0CBF-52E6-01AD0BC0DA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altLang="en-US" sz="2200" b="1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What Went Wrong: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altLang="en-US" sz="2200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Inconsistent performances across seasons.</a:t>
            </a:r>
            <a:endParaRPr lang="en-US" altLang="en-US" sz="2200" dirty="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buFont typeface="Wingdings" panose="05000000000000000000" pitchFamily="2" charset="2"/>
              <a:buChar char="ü"/>
            </a:pPr>
            <a:r>
              <a:rPr lang="en-US" altLang="en-US" sz="2200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One-dimensional match strategies.</a:t>
            </a:r>
            <a:endParaRPr lang="en-US" altLang="en-US" sz="2200" dirty="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buFont typeface="Wingdings" panose="05000000000000000000" pitchFamily="2" charset="2"/>
              <a:buChar char="ü"/>
            </a:pPr>
            <a:r>
              <a:rPr lang="en-US" altLang="en-US" sz="2200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Over-reliance on individual match-winners.</a:t>
            </a:r>
            <a:endParaRPr lang="en-US" altLang="en-US" sz="22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r>
              <a:rPr lang="en-US" altLang="en-US" sz="2200" b="1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What Must Be Implemented:</a:t>
            </a:r>
          </a:p>
          <a:p>
            <a:pPr>
              <a:buClrTx/>
              <a:buSzTx/>
              <a:buFont typeface="Wingdings" panose="05000000000000000000" pitchFamily="2" charset="2"/>
              <a:buChar char="ü"/>
            </a:pPr>
            <a:r>
              <a:rPr lang="en-US" altLang="en-US" sz="2200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Role-based squad construction.</a:t>
            </a:r>
          </a:p>
          <a:p>
            <a:pPr>
              <a:buClrTx/>
              <a:buSzTx/>
              <a:buFont typeface="Wingdings" panose="05000000000000000000" pitchFamily="2" charset="2"/>
              <a:buChar char="ü"/>
            </a:pPr>
            <a:r>
              <a:rPr lang="en-US" altLang="en-US" sz="2200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Venue-aware and situation-based tactics.</a:t>
            </a:r>
          </a:p>
          <a:p>
            <a:pPr>
              <a:buClrTx/>
              <a:buSzTx/>
              <a:buFont typeface="Wingdings" panose="05000000000000000000" pitchFamily="2" charset="2"/>
              <a:buChar char="ü"/>
            </a:pPr>
            <a:r>
              <a:rPr lang="en-US" altLang="en-US" sz="2200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Reduced dependency on a few stars through stronger team balance</a:t>
            </a:r>
            <a:r>
              <a:rPr lang="en-US" altLang="en-US" i="1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.</a:t>
            </a:r>
            <a:endParaRPr lang="en-US" altLang="en-US" dirty="0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71AA13A-E5B4-9A8D-9748-6A119142DEB2}"/>
              </a:ext>
            </a:extLst>
          </p:cNvPr>
          <p:cNvSpPr txBox="1"/>
          <p:nvPr/>
        </p:nvSpPr>
        <p:spPr>
          <a:xfrm>
            <a:off x="2352782" y="5730315"/>
            <a:ext cx="812685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US" b="1" i="1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RCB has always had match-</a:t>
            </a:r>
            <a:r>
              <a:rPr lang="en-US" altLang="en-US" b="1" i="1" u="sng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winners.What</a:t>
            </a:r>
            <a:r>
              <a:rPr lang="en-US" altLang="en-US" b="1" i="1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it now needs is a match-winning system!</a:t>
            </a:r>
            <a:endParaRPr lang="en-US" b="1" i="1" u="sng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1554605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D62828-6DC6-5C7B-0B0E-E78C7ABEA9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altLang="en-US" sz="3600" b="1" dirty="0">
                <a:solidFill>
                  <a:srgbClr val="091C53"/>
                </a:solidFill>
                <a:latin typeface="Times New Roman" panose="02020603050405020304" charset="0"/>
                <a:ea typeface="Instrument Sans Semi Bold" pitchFamily="34" charset="-122"/>
                <a:cs typeface="Times New Roman" panose="02020603050405020304" charset="0"/>
                <a:sym typeface="+mn-ea"/>
              </a:rPr>
              <a:t>Recommendations:</a:t>
            </a:r>
            <a:endParaRPr lang="en-IN" sz="36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FBCC72-D636-B15F-9F19-7BCA650750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2015732"/>
            <a:ext cx="9603275" cy="3778893"/>
          </a:xfrm>
        </p:spPr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ü"/>
            </a:pPr>
            <a:r>
              <a:rPr lang="en-US" altLang="en-US" b="1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Invest in genuine all-rounders</a:t>
            </a:r>
          </a:p>
          <a:p>
            <a:pPr marL="0" indent="0">
              <a:buNone/>
            </a:pPr>
            <a:r>
              <a:rPr lang="en-US" altLang="en-US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All-rounder analysis shows players contributing with both bat and ball create balance and reduce pressure on top-order batters and strike bowlers.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altLang="en-US" b="1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Strengthen bowling for high-scoring venues</a:t>
            </a:r>
          </a:p>
          <a:p>
            <a:pPr marL="0" indent="0">
              <a:buNone/>
            </a:pPr>
            <a:r>
              <a:rPr lang="en-US" altLang="en-US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High average first-innings scores and powerplay/death-over data indicate RCB must prioritize wicket-taking bowlers, not just economy bowlers.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altLang="en-US" b="1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Build backups for key roles</a:t>
            </a:r>
          </a:p>
          <a:p>
            <a:pPr marL="0" indent="0">
              <a:buNone/>
            </a:pPr>
            <a:r>
              <a:rPr lang="en-US" altLang="en-US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Morale-impact analysis highlights performance drops without certain players. Every critical role must have a reliable backup to avoid collapse during injuries or form slumps.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3096546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E0120C-CB63-E0C0-0456-45FDA9B74D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altLang="en-US" sz="3600" b="1" dirty="0">
                <a:solidFill>
                  <a:srgbClr val="091C53"/>
                </a:solidFill>
                <a:latin typeface="Times New Roman" panose="02020603050405020304" charset="0"/>
                <a:ea typeface="Instrument Sans Semi Bold" pitchFamily="34" charset="-122"/>
                <a:cs typeface="Times New Roman" panose="02020603050405020304" charset="0"/>
                <a:sym typeface="+mn-ea"/>
              </a:rPr>
              <a:t>Conclusion:</a:t>
            </a:r>
            <a:endParaRPr lang="en-IN" sz="36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1B7748-1783-6E9F-672F-205EFBF776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US" altLang="en-US" sz="2400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Despite producing some of the league’s greatest individual performances, RCB’s data tells a consistent story - success came in flashes, not as a sustained force. Strong home performances, star-driven wins, and occasional peak seasons were undone by inconsistency, tactical inflexibility, and over-dependence on a few players. To finally lift the trophy, RCB must transition from a star-powered team to a strategically balanced unit, using data-driven decisions for auctions, venue planning, and squad rotation. Championships are not won by moments of brilliance, but by consistency, depth, and adaptability.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3178311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DF6403-8BCE-3D68-1308-CF400E0486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017D33-EEA7-DF83-7210-B302A31996D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4183539947"/>
      </p:ext>
    </p:extLst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41</TotalTime>
  <Words>770</Words>
  <Application>Microsoft Office PowerPoint</Application>
  <PresentationFormat>Widescreen</PresentationFormat>
  <Paragraphs>74</Paragraphs>
  <Slides>16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2" baseType="lpstr">
      <vt:lpstr>Arial</vt:lpstr>
      <vt:lpstr>Calibri</vt:lpstr>
      <vt:lpstr>Gill Sans MT</vt:lpstr>
      <vt:lpstr>Times New Roman</vt:lpstr>
      <vt:lpstr>Wingdings</vt:lpstr>
      <vt:lpstr>Gallery</vt:lpstr>
      <vt:lpstr>IPL DATA Analysis</vt:lpstr>
      <vt:lpstr>AGENDA</vt:lpstr>
      <vt:lpstr>Problem Statement</vt:lpstr>
      <vt:lpstr>The Unanswered Question:  Why No Trophy?</vt:lpstr>
      <vt:lpstr>RCB Performance Overview (Season-wise)</vt:lpstr>
      <vt:lpstr>Home vs Away performance</vt:lpstr>
      <vt:lpstr>Toss Decisions &amp; Venue Impact</vt:lpstr>
      <vt:lpstr>Player Presence &amp; Morale Impact</vt:lpstr>
      <vt:lpstr>Squad Balance – Batting vs Bowling</vt:lpstr>
      <vt:lpstr>Role of All-Rounders</vt:lpstr>
      <vt:lpstr>Stars vs Team Performance</vt:lpstr>
      <vt:lpstr>Why NO Trophy:</vt:lpstr>
      <vt:lpstr>Forging a New Path: Strategies for Success</vt:lpstr>
      <vt:lpstr>Recommendations:</vt:lpstr>
      <vt:lpstr>Conclusion: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Drishay Arora</dc:creator>
  <cp:lastModifiedBy>Drishay Arora</cp:lastModifiedBy>
  <cp:revision>1</cp:revision>
  <dcterms:created xsi:type="dcterms:W3CDTF">2026-05-08T06:15:24Z</dcterms:created>
  <dcterms:modified xsi:type="dcterms:W3CDTF">2026-05-08T06:56:45Z</dcterms:modified>
</cp:coreProperties>
</file>